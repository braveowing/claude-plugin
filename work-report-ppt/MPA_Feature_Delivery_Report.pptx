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72B4D"/>
                </a:solidFill>
                <a:latin typeface="Arial"/>
              </a:defRPr>
            </a:pPr>
            <a:r>
              <a:t>MPA Feature Delivery Decision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Arial"/>
              </a:defRPr>
            </a:pPr>
            <a:r>
              <a:t>Date: 2026-03-01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3200" b="1">
                <a:solidFill>
                  <a:srgbClr val="0052CC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1F1F1F"/>
                </a:solidFill>
                <a:latin typeface="Arial"/>
              </a:defRPr>
            </a:pPr>
            <a:r>
              <a:t>• MPA (Memory Parking Assist) functionality delayed due to perception collision issues | • Supplier MMT unable to resolve collisions with barriers, carts, metal horses on R6 architecture | • Decision required: Release with waiver (Px82.25) vs. Postpone to R7 (Px96)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52CC"/>
                </a:solidFill>
                <a:latin typeface="Arial"/>
              </a:defRPr>
            </a:pPr>
            <a:r>
              <a:t>Problem &amp; Root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>
                <a:solidFill>
                  <a:srgbClr val="1F1F1F"/>
                </a:solidFill>
                <a:latin typeface="Arial"/>
              </a:defRPr>
            </a:pPr>
            <a:r>
              <a:t>Problem: MPA experiencing repeated delays due to unresolved collision detection issues | Latest Px82.20 model</a:t>
            </a:r>
          </a:p>
          <a:p>
            <a:pPr algn="l">
              <a:defRPr sz="2400" b="0">
                <a:solidFill>
                  <a:srgbClr val="1F1F1F"/>
                </a:solidFill>
                <a:latin typeface="Arial"/>
              </a:defRPr>
            </a:pPr>
            <a:r>
              <a:t>Root Cause: **Primary Cause**: MMT unwilling to optimize further on R6 architecture | **Supp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52CC"/>
                </a:solidFill>
                <a:latin typeface="Arial"/>
              </a:defRPr>
            </a:pPr>
            <a:r>
              <a:t>Option 1: 1: Waiver Acceptance (Release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397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1F1F1F"/>
                </a:solidFill>
                <a:latin typeface="Arial"/>
              </a:defRPr>
            </a:pPr>
            <a:r>
              <a:t>Pros: Feature delivered on time (2026 Q1) • Meets original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1F1F1F"/>
                </a:solidFill>
                <a:latin typeface="Arial"/>
              </a:defRPr>
            </a:pPr>
            <a:r>
              <a:t>Cons: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397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Arial"/>
              </a:defRPr>
            </a:pPr>
            <a:r>
              <a:t>Cost: N/A | Time: N/A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052CC"/>
                </a:solidFill>
                <a:latin typeface="Arial"/>
              </a:defRPr>
            </a:pPr>
            <a:r>
              <a:t>Option 2: 2: Postpone to R7 (Release 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63440"/>
            <a:ext cx="397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1F1F1F"/>
                </a:solidFill>
                <a:latin typeface="Arial"/>
              </a:defRPr>
            </a:pPr>
            <a:r>
              <a:t>Pros: All safety issues resolved • Better user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212080"/>
            <a:ext cx="3977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1F1F1F"/>
                </a:solidFill>
                <a:latin typeface="Arial"/>
              </a:defRPr>
            </a:pPr>
            <a:r>
              <a:t>Cons: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669280"/>
            <a:ext cx="397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666666"/>
                </a:solidFill>
                <a:latin typeface="Arial"/>
              </a:defRPr>
            </a:pPr>
            <a:r>
              <a:t>Cost: N/A | Time: 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52CC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0052CC"/>
                </a:solidFill>
                <a:latin typeface="Arial"/>
              </a:defRPr>
            </a:pPr>
            <a:r>
              <a:t>Recommended: **Justification**:</a:t>
            </a:r>
          </a:p>
          <a:p>
            <a:pPr algn="l">
              <a:defRPr sz="2400" b="0">
                <a:solidFill>
                  <a:srgbClr val="1F1F1F"/>
                </a:solidFill>
                <a:latin typeface="Arial"/>
              </a:defRPr>
            </a:pPr>
            <a:r>
              <a:t>Justification: </a:t>
            </a:r>
          </a:p>
          <a:p>
            <a:pPr algn="l">
              <a:defRPr sz="2400" b="1">
                <a:solidFill>
                  <a:srgbClr val="FF5630"/>
                </a:solidFill>
                <a:latin typeface="Arial"/>
              </a:defRPr>
            </a:pPr>
            <a:r>
              <a:t>Decision: **Please approve**: Postpone MPA delivery from Px82.25 to Px96 (R7 release) **De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